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40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589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06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21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86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9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3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78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091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30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871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6366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118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673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66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362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48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B4BE455-75DA-4F26-91FF-B4FD8EA275C3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F0D0E46-B4CA-4754-8C07-93BEF6CDB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8686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126B4-1A24-F40C-876C-E85898948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334" y="529697"/>
            <a:ext cx="9144000" cy="808036"/>
          </a:xfrm>
        </p:spPr>
        <p:txBody>
          <a:bodyPr>
            <a:normAutofit fontScale="90000"/>
          </a:bodyPr>
          <a:lstStyle/>
          <a:p>
            <a:r>
              <a:rPr lang="en-IN" dirty="0"/>
              <a:t>Python QA BOT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97179-CFBE-DF4D-6615-B6CDD5ACF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43038"/>
            <a:ext cx="9144000" cy="546629"/>
          </a:xfrm>
        </p:spPr>
        <p:txBody>
          <a:bodyPr/>
          <a:lstStyle/>
          <a:p>
            <a:r>
              <a:rPr lang="en-IN" dirty="0"/>
              <a:t>Agentic RAG System for Python Programming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67081-AC69-E449-2CEF-C2545CD4598B}"/>
              </a:ext>
            </a:extLst>
          </p:cNvPr>
          <p:cNvSpPr txBox="1"/>
          <p:nvPr/>
        </p:nvSpPr>
        <p:spPr>
          <a:xfrm>
            <a:off x="1159934" y="2230436"/>
            <a:ext cx="104139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 Stack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GPT-4o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LangGraph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Pinecone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Supabase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React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Developed By:</a:t>
            </a:r>
            <a:r>
              <a:rPr lang="en-IN" dirty="0"/>
              <a:t> Shubham Shekhar</a:t>
            </a:r>
          </a:p>
        </p:txBody>
      </p:sp>
    </p:spTree>
    <p:extLst>
      <p:ext uri="{BB962C8B-B14F-4D97-AF65-F5344CB8AC3E}">
        <p14:creationId xmlns:p14="http://schemas.microsoft.com/office/powerpoint/2010/main" val="401297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EB7F5-375F-C4DD-8505-1AC11F68D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80C095-B297-A991-8576-F71BAA4A0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200" y="664615"/>
            <a:ext cx="9144000" cy="546629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2CFE7-F47B-6FE6-6B03-DD64F0F001A3}"/>
              </a:ext>
            </a:extLst>
          </p:cNvPr>
          <p:cNvSpPr txBox="1"/>
          <p:nvPr/>
        </p:nvSpPr>
        <p:spPr>
          <a:xfrm>
            <a:off x="1126067" y="1612369"/>
            <a:ext cx="104139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Developers often rely on Stack Overflow to solve Python-related problems.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Information spread across multiple pages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Difficult to find precise answers quickly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Follow-up questions lose context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Traditional search is not conversational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Goal </a:t>
            </a:r>
            <a:r>
              <a:rPr lang="en-IN" dirty="0"/>
              <a:t>-</a:t>
            </a:r>
            <a:r>
              <a:rPr lang="en-IN" b="1" dirty="0"/>
              <a:t> </a:t>
            </a:r>
            <a:r>
              <a:rPr lang="en-IN" dirty="0"/>
              <a:t>Build an AI assistant capable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Answering Python 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Understanding conversational context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Retrieving relevant Stack Overflow solutions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Providing grounded responses with sources</a:t>
            </a:r>
          </a:p>
        </p:txBody>
      </p:sp>
    </p:spTree>
    <p:extLst>
      <p:ext uri="{BB962C8B-B14F-4D97-AF65-F5344CB8AC3E}">
        <p14:creationId xmlns:p14="http://schemas.microsoft.com/office/powerpoint/2010/main" val="2627521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CF436-3472-6785-63D9-860906E0B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E6418B-6C20-8FD8-9B1B-1A4B18D59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200" y="664615"/>
            <a:ext cx="9144000" cy="546629"/>
          </a:xfrm>
        </p:spPr>
        <p:txBody>
          <a:bodyPr/>
          <a:lstStyle/>
          <a:p>
            <a:r>
              <a:rPr lang="en-IN" dirty="0"/>
              <a:t>Solution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CB577-9B78-15AB-5ED8-464D2760EFF3}"/>
              </a:ext>
            </a:extLst>
          </p:cNvPr>
          <p:cNvSpPr txBox="1"/>
          <p:nvPr/>
        </p:nvSpPr>
        <p:spPr>
          <a:xfrm>
            <a:off x="1058333" y="1578503"/>
            <a:ext cx="1041399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Developed a Retrieval-Augmented Generation (RAG) system powered by LangGraph.</a:t>
            </a:r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Key Features</a:t>
            </a:r>
            <a:br>
              <a:rPr lang="en-IN" sz="1600" b="1" dirty="0"/>
            </a:br>
            <a:endParaRPr lang="en-IN" sz="1600" b="1" dirty="0"/>
          </a:p>
          <a:p>
            <a:r>
              <a:rPr lang="en-IN" sz="1600" dirty="0"/>
              <a:t>✅ Python-focused assistant</a:t>
            </a:r>
          </a:p>
          <a:p>
            <a:r>
              <a:rPr lang="en-IN" sz="1600" dirty="0"/>
              <a:t>✅ Multi-turn conversation memory</a:t>
            </a:r>
          </a:p>
          <a:p>
            <a:r>
              <a:rPr lang="en-IN" sz="1600" dirty="0"/>
              <a:t>✅ Query rewriting</a:t>
            </a:r>
          </a:p>
          <a:p>
            <a:r>
              <a:rPr lang="en-IN" sz="1600" dirty="0"/>
              <a:t>✅ Vector search using Pinecone</a:t>
            </a:r>
          </a:p>
          <a:p>
            <a:r>
              <a:rPr lang="en-IN" sz="1600" dirty="0"/>
              <a:t>✅ Relevance grading</a:t>
            </a:r>
          </a:p>
          <a:p>
            <a:r>
              <a:rPr lang="en-IN" sz="1600" dirty="0"/>
              <a:t>✅ Source-grounded responses</a:t>
            </a:r>
          </a:p>
          <a:p>
            <a:r>
              <a:rPr lang="en-IN" sz="1600" dirty="0"/>
              <a:t>✅ Authentication &amp; session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30044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AC17-150A-3FC3-02D6-779BC1C7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EE4D9A-0EF1-6BB8-F4D4-08C4AA2A7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200" y="698481"/>
            <a:ext cx="9144000" cy="546629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F51CA-8E25-B67A-58F8-59B637DC501F}"/>
              </a:ext>
            </a:extLst>
          </p:cNvPr>
          <p:cNvSpPr txBox="1"/>
          <p:nvPr/>
        </p:nvSpPr>
        <p:spPr>
          <a:xfrm>
            <a:off x="1058333" y="1578503"/>
            <a:ext cx="1041399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User</a:t>
            </a:r>
          </a:p>
          <a:p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React Frontend</a:t>
            </a:r>
            <a:br>
              <a:rPr lang="en-IN" sz="1600" dirty="0"/>
            </a:br>
            <a:r>
              <a:rPr lang="en-IN" sz="1600" dirty="0"/>
              <a:t>(</a:t>
            </a:r>
            <a:r>
              <a:rPr lang="en-IN" sz="1600" dirty="0" err="1"/>
              <a:t>Vercel</a:t>
            </a:r>
            <a:r>
              <a:rPr lang="en-IN" sz="1600" dirty="0"/>
              <a:t>)</a:t>
            </a:r>
          </a:p>
          <a:p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FastAPI Backend</a:t>
            </a:r>
            <a:br>
              <a:rPr lang="en-IN" sz="1600" dirty="0"/>
            </a:br>
            <a:r>
              <a:rPr lang="en-IN" sz="1600" dirty="0"/>
              <a:t>(Render)</a:t>
            </a:r>
          </a:p>
          <a:p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LangGraph Agent</a:t>
            </a:r>
          </a:p>
          <a:p>
            <a:r>
              <a:rPr lang="en-IN" sz="1600" dirty="0"/>
              <a:t>├─ Classification</a:t>
            </a:r>
            <a:br>
              <a:rPr lang="en-IN" sz="1600" dirty="0"/>
            </a:br>
            <a:r>
              <a:rPr lang="en-IN" sz="1600" dirty="0"/>
              <a:t>├─ Memory Retrieval</a:t>
            </a:r>
            <a:br>
              <a:rPr lang="en-IN" sz="1600" dirty="0"/>
            </a:br>
            <a:r>
              <a:rPr lang="en-IN" sz="1600" dirty="0"/>
              <a:t>├─ Query Rewriting</a:t>
            </a:r>
            <a:br>
              <a:rPr lang="en-IN" sz="1600" dirty="0"/>
            </a:br>
            <a:r>
              <a:rPr lang="en-IN" sz="1600" dirty="0"/>
              <a:t>├─ Pinecone Retrieval</a:t>
            </a:r>
            <a:br>
              <a:rPr lang="en-IN" sz="1600" dirty="0"/>
            </a:br>
            <a:r>
              <a:rPr lang="en-IN" sz="1600" dirty="0"/>
              <a:t>├─ Relevance Grading</a:t>
            </a:r>
            <a:br>
              <a:rPr lang="en-IN" sz="1600" dirty="0"/>
            </a:br>
            <a:r>
              <a:rPr lang="en-IN" sz="1600" dirty="0"/>
              <a:t>└─ Answer Generation</a:t>
            </a:r>
          </a:p>
          <a:p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GPT-4o</a:t>
            </a:r>
          </a:p>
          <a:p>
            <a:r>
              <a:rPr lang="en-IN" sz="1600" dirty="0"/>
              <a:t>↓</a:t>
            </a:r>
            <a:br>
              <a:rPr lang="en-IN" sz="1600" dirty="0"/>
            </a:br>
            <a:r>
              <a:rPr lang="en-IN" sz="1600" dirty="0"/>
              <a:t>Grounded Answer + Sources</a:t>
            </a:r>
          </a:p>
        </p:txBody>
      </p:sp>
    </p:spTree>
    <p:extLst>
      <p:ext uri="{BB962C8B-B14F-4D97-AF65-F5344CB8AC3E}">
        <p14:creationId xmlns:p14="http://schemas.microsoft.com/office/powerpoint/2010/main" val="304965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D642-A600-4F0A-CE29-285C6E1E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D0C156-4299-5AE1-8844-A771673D4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4667" y="402149"/>
            <a:ext cx="9144000" cy="546629"/>
          </a:xfrm>
        </p:spPr>
        <p:txBody>
          <a:bodyPr/>
          <a:lstStyle/>
          <a:p>
            <a:r>
              <a:rPr lang="en-IN" dirty="0"/>
              <a:t>Agent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C6BD3-B38B-A6D5-B131-21E3846B2273}"/>
              </a:ext>
            </a:extLst>
          </p:cNvPr>
          <p:cNvSpPr txBox="1"/>
          <p:nvPr/>
        </p:nvSpPr>
        <p:spPr>
          <a:xfrm>
            <a:off x="1032933" y="1008206"/>
            <a:ext cx="10413999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START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▼</a:t>
            </a:r>
            <a:br>
              <a:rPr lang="en-IN" sz="900" dirty="0"/>
            </a:br>
            <a:r>
              <a:rPr lang="en-IN" sz="900" dirty="0"/>
              <a:t>Classification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├── Not Python</a:t>
            </a:r>
            <a:br>
              <a:rPr lang="en-IN" sz="900" dirty="0"/>
            </a:br>
            <a:r>
              <a:rPr lang="en-IN" sz="900" dirty="0"/>
              <a:t>│ │</a:t>
            </a:r>
            <a:br>
              <a:rPr lang="en-IN" sz="900" dirty="0"/>
            </a:br>
            <a:r>
              <a:rPr lang="en-IN" sz="900" dirty="0"/>
              <a:t>│ ▼</a:t>
            </a:r>
            <a:br>
              <a:rPr lang="en-IN" sz="900" dirty="0"/>
            </a:br>
            <a:r>
              <a:rPr lang="en-IN" sz="900" dirty="0"/>
              <a:t>│ Refusal Response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└── Python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▼</a:t>
            </a:r>
            <a:br>
              <a:rPr lang="en-IN" sz="900" dirty="0"/>
            </a:br>
            <a:r>
              <a:rPr lang="en-IN" sz="900" dirty="0"/>
              <a:t>Memory Retrieval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▼</a:t>
            </a:r>
            <a:br>
              <a:rPr lang="en-IN" sz="900" dirty="0"/>
            </a:br>
            <a:r>
              <a:rPr lang="en-IN" sz="900" dirty="0"/>
              <a:t>Query Rewriting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▼</a:t>
            </a:r>
            <a:br>
              <a:rPr lang="en-IN" sz="900" dirty="0"/>
            </a:br>
            <a:r>
              <a:rPr lang="en-IN" sz="900" dirty="0"/>
              <a:t>Pinecone Retrieval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▼</a:t>
            </a:r>
            <a:br>
              <a:rPr lang="en-IN" sz="900" dirty="0"/>
            </a:br>
            <a:r>
              <a:rPr lang="en-IN" sz="900" dirty="0"/>
              <a:t>Document Grading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├── Relevant Documents</a:t>
            </a:r>
            <a:br>
              <a:rPr lang="en-IN" sz="900" dirty="0"/>
            </a:br>
            <a:r>
              <a:rPr lang="en-IN" sz="900" dirty="0"/>
              <a:t>│ │</a:t>
            </a:r>
            <a:br>
              <a:rPr lang="en-IN" sz="900" dirty="0"/>
            </a:br>
            <a:r>
              <a:rPr lang="en-IN" sz="900" dirty="0"/>
              <a:t>│ ▼</a:t>
            </a:r>
            <a:br>
              <a:rPr lang="en-IN" sz="900" dirty="0"/>
            </a:br>
            <a:r>
              <a:rPr lang="en-IN" sz="900" dirty="0"/>
              <a:t>│ Generate Answer</a:t>
            </a:r>
            <a:br>
              <a:rPr lang="en-IN" sz="900" dirty="0"/>
            </a:br>
            <a:r>
              <a:rPr lang="en-IN" sz="900" dirty="0"/>
              <a:t>│ │</a:t>
            </a:r>
            <a:br>
              <a:rPr lang="en-IN" sz="900" dirty="0"/>
            </a:br>
            <a:r>
              <a:rPr lang="en-IN" sz="900" dirty="0"/>
              <a:t>│ ▼</a:t>
            </a:r>
            <a:br>
              <a:rPr lang="en-IN" sz="900" dirty="0"/>
            </a:br>
            <a:r>
              <a:rPr lang="en-IN" sz="900" dirty="0"/>
              <a:t>│ END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└── No Relevant Documents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▼</a:t>
            </a:r>
            <a:br>
              <a:rPr lang="en-IN" sz="900" dirty="0"/>
            </a:br>
            <a:r>
              <a:rPr lang="en-IN" sz="900" dirty="0"/>
              <a:t>Fallback Response</a:t>
            </a:r>
            <a:br>
              <a:rPr lang="en-IN" sz="900" dirty="0"/>
            </a:br>
            <a:r>
              <a:rPr lang="en-IN" sz="900" dirty="0"/>
              <a:t>│</a:t>
            </a:r>
            <a:br>
              <a:rPr lang="en-IN" sz="900" dirty="0"/>
            </a:br>
            <a:r>
              <a:rPr lang="en-IN" sz="900" dirty="0"/>
              <a:t>▼</a:t>
            </a:r>
            <a:br>
              <a:rPr lang="en-IN" sz="900" dirty="0"/>
            </a:br>
            <a:r>
              <a:rPr lang="en-IN" sz="9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15533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D7174-E655-7A88-74A6-B5456C26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379ECE-BF15-D81D-F9F9-EAA42E6DB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200" y="664615"/>
            <a:ext cx="9144000" cy="546629"/>
          </a:xfrm>
        </p:spPr>
        <p:txBody>
          <a:bodyPr/>
          <a:lstStyle/>
          <a:p>
            <a:r>
              <a:rPr lang="en-IN" dirty="0"/>
              <a:t>Technical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FA63C-C620-64AF-C062-51234FC96A3C}"/>
              </a:ext>
            </a:extLst>
          </p:cNvPr>
          <p:cNvSpPr txBox="1"/>
          <p:nvPr/>
        </p:nvSpPr>
        <p:spPr>
          <a:xfrm>
            <a:off x="973667" y="1366836"/>
            <a:ext cx="104139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Core Components</a:t>
            </a:r>
            <a:br>
              <a:rPr lang="en-IN" sz="1600" b="1" dirty="0"/>
            </a:br>
            <a:endParaRPr lang="en-IN" sz="1600" b="1" dirty="0"/>
          </a:p>
          <a:p>
            <a:r>
              <a:rPr lang="en-IN" sz="1600" b="1" dirty="0"/>
              <a:t>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Supabase Authentication</a:t>
            </a:r>
          </a:p>
          <a:p>
            <a:r>
              <a:rPr lang="en-IN" sz="1600" dirty="0"/>
              <a:t> </a:t>
            </a:r>
            <a:r>
              <a:rPr lang="en-IN" sz="1600" b="1" dirty="0"/>
              <a:t>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FastAPI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LangGraph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Async APIs </a:t>
            </a:r>
          </a:p>
          <a:p>
            <a:r>
              <a:rPr lang="en-IN" sz="1600" b="1" dirty="0"/>
              <a:t>AI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GPT-4o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Query Rewriting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Relevance Grading </a:t>
            </a:r>
          </a:p>
          <a:p>
            <a:r>
              <a:rPr lang="en-IN" sz="1600" b="1" dirty="0"/>
              <a:t>Knowledge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Stack Overflow Q&amp;A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Pinecone Vector Database </a:t>
            </a:r>
          </a:p>
          <a:p>
            <a:r>
              <a:rPr lang="en-IN" sz="1600" b="1" dirty="0"/>
              <a:t>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Supabase PostgreSQL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Session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 Management</a:t>
            </a:r>
          </a:p>
        </p:txBody>
      </p:sp>
    </p:spTree>
    <p:extLst>
      <p:ext uri="{BB962C8B-B14F-4D97-AF65-F5344CB8AC3E}">
        <p14:creationId xmlns:p14="http://schemas.microsoft.com/office/powerpoint/2010/main" val="401519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E518C-4CAB-8DAB-D68B-FFD3126D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DDDF7D-0D9C-971D-06F7-1A507BA97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200" y="664615"/>
            <a:ext cx="9144000" cy="546629"/>
          </a:xfrm>
        </p:spPr>
        <p:txBody>
          <a:bodyPr/>
          <a:lstStyle/>
          <a:p>
            <a:r>
              <a:rPr lang="en-IN" dirty="0"/>
              <a:t>Key Design Decisions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E8298-61FE-5D85-21C4-153A5E1F4B9B}"/>
              </a:ext>
            </a:extLst>
          </p:cNvPr>
          <p:cNvSpPr txBox="1"/>
          <p:nvPr/>
        </p:nvSpPr>
        <p:spPr>
          <a:xfrm>
            <a:off x="1058333" y="1578503"/>
            <a:ext cx="10413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Why LangGraph?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Explicit workflow orchestration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Conditional routing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Easier debugging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Extensible architecture </a:t>
            </a:r>
          </a:p>
          <a:p>
            <a:r>
              <a:rPr lang="en-IN" sz="1600" b="1" dirty="0"/>
              <a:t>Why Pinecone?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Managed vector database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Low-latency retrieval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Serverless scaling </a:t>
            </a:r>
          </a:p>
          <a:p>
            <a:r>
              <a:rPr lang="en-IN" sz="1600" b="1" dirty="0"/>
              <a:t>Why BGE-Small Embeddings?</a:t>
            </a:r>
          </a:p>
          <a:p>
            <a:r>
              <a:rPr lang="en-IN" sz="1600" dirty="0"/>
              <a:t>Open-source </a:t>
            </a:r>
          </a:p>
          <a:p>
            <a:r>
              <a:rPr lang="en-IN" sz="1600" dirty="0"/>
              <a:t>Cost-efficient </a:t>
            </a:r>
          </a:p>
          <a:p>
            <a:r>
              <a:rPr lang="en-IN" sz="1600" dirty="0"/>
              <a:t>Fast embedding generation </a:t>
            </a:r>
          </a:p>
          <a:p>
            <a:r>
              <a:rPr lang="en-IN" sz="1600" b="1" dirty="0"/>
              <a:t>Why Query Rewriting?</a:t>
            </a:r>
          </a:p>
          <a:p>
            <a:r>
              <a:rPr lang="en-IN" sz="1600" dirty="0"/>
              <a:t>Transforms vague follow-ups into standalone queries before retrieval.</a:t>
            </a:r>
          </a:p>
        </p:txBody>
      </p:sp>
    </p:spTree>
    <p:extLst>
      <p:ext uri="{BB962C8B-B14F-4D97-AF65-F5344CB8AC3E}">
        <p14:creationId xmlns:p14="http://schemas.microsoft.com/office/powerpoint/2010/main" val="324280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49AC-B85A-449A-165E-EA2A1BE2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96D0CED-16C0-964B-AADE-32C8E9C6D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200" y="664615"/>
            <a:ext cx="9144000" cy="546629"/>
          </a:xfrm>
        </p:spPr>
        <p:txBody>
          <a:bodyPr/>
          <a:lstStyle/>
          <a:p>
            <a:r>
              <a:rPr lang="en-IN" dirty="0"/>
              <a:t>Performance Optimizations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6DE26-91D2-176D-3392-1E4CFF8C2079}"/>
              </a:ext>
            </a:extLst>
          </p:cNvPr>
          <p:cNvSpPr txBox="1"/>
          <p:nvPr/>
        </p:nvSpPr>
        <p:spPr>
          <a:xfrm>
            <a:off x="1058333" y="1578503"/>
            <a:ext cx="10413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Test Results (10 Sample Queries)</a:t>
            </a:r>
          </a:p>
          <a:p>
            <a:r>
              <a:rPr lang="en-IN" sz="1600" dirty="0"/>
              <a:t>Average Response Time:</a:t>
            </a:r>
          </a:p>
          <a:p>
            <a:r>
              <a:rPr lang="en-IN" sz="1600" b="1" dirty="0"/>
              <a:t>10–12 seconds</a:t>
            </a:r>
            <a:br>
              <a:rPr lang="en-IN" sz="1600" b="1" dirty="0"/>
            </a:br>
            <a:br>
              <a:rPr lang="en-IN" sz="1600" b="1" dirty="0"/>
            </a:br>
            <a:endParaRPr lang="en-IN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9FBAC44-5B7F-6BF3-A7AA-9D68D2B94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597570"/>
              </p:ext>
            </p:extLst>
          </p:nvPr>
        </p:nvGraphicFramePr>
        <p:xfrm>
          <a:off x="1058333" y="2475601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352905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243755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Avg</a:t>
                      </a:r>
                      <a:r>
                        <a:rPr lang="en-IN" b="1" dirty="0"/>
                        <a:t>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36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825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Query Rewriting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~0.7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876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&lt;50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Pinecone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~1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481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Grading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~3.5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761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Answer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~4.5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62851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68BD9BA-9226-36DA-F5C2-CBD4B89FD9F6}"/>
              </a:ext>
            </a:extLst>
          </p:cNvPr>
          <p:cNvSpPr txBox="1"/>
          <p:nvPr/>
        </p:nvSpPr>
        <p:spPr>
          <a:xfrm>
            <a:off x="1058332" y="5210703"/>
            <a:ext cx="10413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Best Case</a:t>
            </a:r>
          </a:p>
          <a:p>
            <a:r>
              <a:rPr lang="en-IN" sz="1600" dirty="0"/>
              <a:t>0.8 sec (Non-Python query)</a:t>
            </a:r>
          </a:p>
          <a:p>
            <a:r>
              <a:rPr lang="en-IN" sz="1600" b="1" dirty="0"/>
              <a:t>Worst Case</a:t>
            </a:r>
          </a:p>
          <a:p>
            <a:r>
              <a:rPr lang="en-IN" sz="1600" dirty="0"/>
              <a:t>19.1 sec</a:t>
            </a:r>
          </a:p>
          <a:p>
            <a:br>
              <a:rPr lang="en-IN" sz="1600" b="1" dirty="0"/>
            </a:br>
            <a:br>
              <a:rPr lang="en-IN" sz="1600" b="1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27151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A06FB-0DA3-3F9B-2186-A3DE6D26F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E24D78-9027-D0AB-D8D1-2A97E3474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200" y="664615"/>
            <a:ext cx="9144000" cy="546629"/>
          </a:xfrm>
        </p:spPr>
        <p:txBody>
          <a:bodyPr/>
          <a:lstStyle/>
          <a:p>
            <a:r>
              <a:rPr lang="en-IN" dirty="0"/>
              <a:t>Challenges &amp; Learnings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47B4C-9532-9BE9-69AF-30D4CBD5267F}"/>
              </a:ext>
            </a:extLst>
          </p:cNvPr>
          <p:cNvSpPr txBox="1"/>
          <p:nvPr/>
        </p:nvSpPr>
        <p:spPr>
          <a:xfrm>
            <a:off x="1041399" y="1434570"/>
            <a:ext cx="1041399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Challenge 1</a:t>
            </a:r>
          </a:p>
          <a:p>
            <a:r>
              <a:rPr lang="en-IN" sz="1600" dirty="0"/>
              <a:t>Follow-up Questions</a:t>
            </a:r>
          </a:p>
          <a:p>
            <a:r>
              <a:rPr lang="en-IN" sz="1600" dirty="0"/>
              <a:t>Example:</a:t>
            </a:r>
          </a:p>
          <a:p>
            <a:r>
              <a:rPr lang="en-IN" sz="1600" dirty="0"/>
              <a:t>	"Can you show an example?"</a:t>
            </a:r>
          </a:p>
          <a:p>
            <a:r>
              <a:rPr lang="en-IN" sz="1600" b="1" dirty="0"/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Conversation memory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Query rewriting </a:t>
            </a:r>
          </a:p>
          <a:p>
            <a:endParaRPr lang="en-IN" sz="1600" dirty="0"/>
          </a:p>
          <a:p>
            <a:r>
              <a:rPr lang="en-IN" sz="1600" b="1" dirty="0"/>
              <a:t>Challenge 2</a:t>
            </a:r>
          </a:p>
          <a:p>
            <a:r>
              <a:rPr lang="en-IN" sz="1600" dirty="0"/>
              <a:t>Hallucinations</a:t>
            </a:r>
          </a:p>
          <a:p>
            <a:r>
              <a:rPr lang="en-IN" sz="1600" b="1" dirty="0"/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Retrieval-Augmented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Document grading before generation </a:t>
            </a:r>
          </a:p>
          <a:p>
            <a:endParaRPr lang="en-IN" sz="1600" dirty="0"/>
          </a:p>
          <a:p>
            <a:r>
              <a:rPr lang="en-IN" sz="1600" b="1" dirty="0"/>
              <a:t>Challenge 3</a:t>
            </a:r>
          </a:p>
          <a:p>
            <a:r>
              <a:rPr lang="en-IN" sz="1600" dirty="0"/>
              <a:t>Multi-user Support</a:t>
            </a:r>
          </a:p>
          <a:p>
            <a:r>
              <a:rPr lang="en-IN" sz="1600" b="1" dirty="0"/>
              <a:t>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JWT 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Supabase RLS Policies</a:t>
            </a:r>
          </a:p>
        </p:txBody>
      </p:sp>
    </p:spTree>
    <p:extLst>
      <p:ext uri="{BB962C8B-B14F-4D97-AF65-F5344CB8AC3E}">
        <p14:creationId xmlns:p14="http://schemas.microsoft.com/office/powerpoint/2010/main" val="92700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B75CA-07DC-7BED-300E-046F7CC0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02ACBC-8852-6795-FBDE-E8FB28070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200" y="664615"/>
            <a:ext cx="9144000" cy="546629"/>
          </a:xfrm>
        </p:spPr>
        <p:txBody>
          <a:bodyPr/>
          <a:lstStyle/>
          <a:p>
            <a:r>
              <a:rPr lang="en-IN" dirty="0"/>
              <a:t>Current Bottlenecks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A83C1-24C4-ABBB-4E72-7EB21970554B}"/>
              </a:ext>
            </a:extLst>
          </p:cNvPr>
          <p:cNvSpPr txBox="1"/>
          <p:nvPr/>
        </p:nvSpPr>
        <p:spPr>
          <a:xfrm>
            <a:off x="1041399" y="1434570"/>
            <a:ext cx="10413999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Major Latency Contributors</a:t>
            </a:r>
          </a:p>
          <a:p>
            <a:r>
              <a:rPr lang="en-IN" sz="1400" b="1" dirty="0"/>
              <a:t>Document Grading</a:t>
            </a:r>
          </a:p>
          <a:p>
            <a:r>
              <a:rPr lang="en-IN" sz="1600" dirty="0"/>
              <a:t>5 individual GPT-4o calls</a:t>
            </a:r>
          </a:p>
          <a:p>
            <a:r>
              <a:rPr lang="en-IN" sz="1600" dirty="0"/>
              <a:t>Latency:</a:t>
            </a:r>
          </a:p>
          <a:p>
            <a:r>
              <a:rPr lang="en-IN" sz="1600" dirty="0"/>
              <a:t>~3.5 seconds</a:t>
            </a:r>
          </a:p>
          <a:p>
            <a:br>
              <a:rPr lang="en-IN" sz="1600" dirty="0"/>
            </a:br>
            <a:r>
              <a:rPr lang="en-IN" sz="1600" b="1" dirty="0"/>
              <a:t>Answer Generation</a:t>
            </a:r>
          </a:p>
          <a:p>
            <a:r>
              <a:rPr lang="en-IN" sz="1600" dirty="0"/>
              <a:t>Single GPT-4o call</a:t>
            </a:r>
          </a:p>
          <a:p>
            <a:r>
              <a:rPr lang="en-IN" sz="1600" dirty="0"/>
              <a:t>Latency:</a:t>
            </a:r>
          </a:p>
          <a:p>
            <a:r>
              <a:rPr lang="en-IN" sz="1600" dirty="0"/>
              <a:t>~4–5 seconds</a:t>
            </a:r>
          </a:p>
          <a:p>
            <a:br>
              <a:rPr lang="en-IN" sz="1600" dirty="0"/>
            </a:br>
            <a:r>
              <a:rPr lang="en-IN" sz="1600" b="1" dirty="0"/>
              <a:t>Observation</a:t>
            </a:r>
          </a:p>
          <a:p>
            <a:r>
              <a:rPr lang="en-IN" sz="1600" dirty="0"/>
              <a:t>Over 70% of total latency comes from LLM operations.</a:t>
            </a:r>
          </a:p>
        </p:txBody>
      </p:sp>
    </p:spTree>
    <p:extLst>
      <p:ext uri="{BB962C8B-B14F-4D97-AF65-F5344CB8AC3E}">
        <p14:creationId xmlns:p14="http://schemas.microsoft.com/office/powerpoint/2010/main" val="236780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527F6-810D-5A3B-1489-EA0944207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E79A2C-79EF-0D76-C5CE-B1F196E8A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267" y="402149"/>
            <a:ext cx="9144000" cy="546629"/>
          </a:xfrm>
        </p:spPr>
        <p:txBody>
          <a:bodyPr/>
          <a:lstStyle/>
          <a:p>
            <a:r>
              <a:rPr lang="en-IN" dirty="0"/>
              <a:t>Scaling to 100+ Concurrent Users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DCFAF4-57D5-2988-F88E-6F807DAEF6A9}"/>
              </a:ext>
            </a:extLst>
          </p:cNvPr>
          <p:cNvSpPr txBox="1"/>
          <p:nvPr/>
        </p:nvSpPr>
        <p:spPr>
          <a:xfrm>
            <a:off x="1032932" y="1058844"/>
            <a:ext cx="104139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Users</a:t>
            </a:r>
          </a:p>
          <a:p>
            <a:r>
              <a:rPr lang="en-IN" sz="1600" b="1" dirty="0"/>
              <a:t>│</a:t>
            </a:r>
          </a:p>
          <a:p>
            <a:r>
              <a:rPr lang="en-IN" sz="1600" b="1" dirty="0"/>
              <a:t>▼</a:t>
            </a:r>
          </a:p>
          <a:p>
            <a:r>
              <a:rPr lang="en-IN" sz="1600" b="1" dirty="0"/>
              <a:t>CloudFront</a:t>
            </a:r>
          </a:p>
          <a:p>
            <a:r>
              <a:rPr lang="en-IN" sz="1600" b="1" dirty="0"/>
              <a:t>│</a:t>
            </a:r>
          </a:p>
          <a:p>
            <a:r>
              <a:rPr lang="en-IN" sz="1600" b="1" dirty="0"/>
              <a:t>▼</a:t>
            </a:r>
          </a:p>
          <a:p>
            <a:r>
              <a:rPr lang="en-IN" sz="1600" b="1" dirty="0"/>
              <a:t>Application Load Balancer</a:t>
            </a:r>
          </a:p>
          <a:p>
            <a:r>
              <a:rPr lang="en-IN" sz="1600" b="1" dirty="0"/>
              <a:t>│</a:t>
            </a:r>
          </a:p>
          <a:p>
            <a:r>
              <a:rPr lang="en-IN" sz="1600" b="1" dirty="0"/>
              <a:t>▼</a:t>
            </a:r>
          </a:p>
          <a:p>
            <a:r>
              <a:rPr lang="en-IN" sz="1600" b="1" dirty="0"/>
              <a:t>AWS ECS Fargate</a:t>
            </a:r>
          </a:p>
          <a:p>
            <a:r>
              <a:rPr lang="en-IN" sz="1600" b="1" dirty="0"/>
              <a:t>(FastAPI Containers)</a:t>
            </a:r>
          </a:p>
          <a:p>
            <a:r>
              <a:rPr lang="en-IN" sz="1600" b="1" dirty="0"/>
              <a:t>│</a:t>
            </a:r>
          </a:p>
          <a:p>
            <a:r>
              <a:rPr lang="en-IN" sz="1600" b="1" dirty="0"/>
              <a:t>├── Redis (</a:t>
            </a:r>
            <a:r>
              <a:rPr lang="en-IN" sz="1600" b="1" dirty="0" err="1"/>
              <a:t>ElastiCache</a:t>
            </a:r>
            <a:r>
              <a:rPr lang="en-IN" sz="1600" b="1" dirty="0"/>
              <a:t>)</a:t>
            </a:r>
          </a:p>
          <a:p>
            <a:r>
              <a:rPr lang="en-IN" sz="1600" b="1" dirty="0"/>
              <a:t>├── Pinecone</a:t>
            </a:r>
          </a:p>
          <a:p>
            <a:r>
              <a:rPr lang="en-IN" sz="1600" b="1" dirty="0"/>
              <a:t>├── Supabase</a:t>
            </a:r>
          </a:p>
          <a:p>
            <a:r>
              <a:rPr lang="en-IN" sz="1600" b="1" dirty="0"/>
              <a:t>└── OpenAI</a:t>
            </a:r>
            <a:br>
              <a:rPr lang="en-IN" sz="1600" b="1" dirty="0"/>
            </a:br>
            <a:br>
              <a:rPr lang="en-IN" sz="1600" b="1" dirty="0"/>
            </a:br>
            <a:r>
              <a:rPr lang="en-IN" sz="1600" b="1" dirty="0"/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Auto Scaling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 Availability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Load Balancing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Better Reliability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31474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2C19A-C8F4-DB8B-E9A8-C7C77C37C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48CBA2-1BF7-8640-A003-DDC0ABC81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0800" y="419081"/>
            <a:ext cx="9144000" cy="546629"/>
          </a:xfrm>
        </p:spPr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8AB20-58A5-1DD6-01A2-0B68E83CB96E}"/>
              </a:ext>
            </a:extLst>
          </p:cNvPr>
          <p:cNvSpPr txBox="1"/>
          <p:nvPr/>
        </p:nvSpPr>
        <p:spPr>
          <a:xfrm>
            <a:off x="1032932" y="965710"/>
            <a:ext cx="10413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/>
              <a:t>Performance Optimizations</a:t>
            </a:r>
          </a:p>
          <a:p>
            <a:r>
              <a:rPr lang="en-IN" sz="1500" b="1" dirty="0"/>
              <a:t>Redis Caching</a:t>
            </a:r>
          </a:p>
          <a:p>
            <a:r>
              <a:rPr lang="en-IN" sz="1500" dirty="0"/>
              <a:t>Cache: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Repeated 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Query Rewrites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Session Metadata </a:t>
            </a:r>
          </a:p>
          <a:p>
            <a:r>
              <a:rPr lang="en-IN" sz="1500" dirty="0"/>
              <a:t>Expected:</a:t>
            </a:r>
          </a:p>
          <a:p>
            <a:r>
              <a:rPr lang="en-IN" sz="1500" dirty="0"/>
              <a:t>40–60% fewer LLM calls</a:t>
            </a:r>
          </a:p>
          <a:p>
            <a:br>
              <a:rPr lang="en-IN" sz="1500" dirty="0"/>
            </a:br>
            <a:r>
              <a:rPr lang="en-IN" sz="1500" b="1" dirty="0"/>
              <a:t>Model Optimization</a:t>
            </a:r>
          </a:p>
          <a:p>
            <a:r>
              <a:rPr lang="en-IN" sz="1500" dirty="0"/>
              <a:t>Current:</a:t>
            </a:r>
          </a:p>
          <a:p>
            <a:r>
              <a:rPr lang="en-IN" sz="1500" dirty="0"/>
              <a:t>GPT-4o for all nodes</a:t>
            </a:r>
          </a:p>
          <a:p>
            <a:r>
              <a:rPr lang="en-IN" sz="1500" dirty="0"/>
              <a:t>Future: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GPT-4o-mini →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GPT-4o-mini → Grading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GPT-4o → Generation </a:t>
            </a:r>
          </a:p>
          <a:p>
            <a:r>
              <a:rPr lang="en-IN" sz="1500" dirty="0"/>
              <a:t>Expected:</a:t>
            </a:r>
          </a:p>
          <a:p>
            <a:r>
              <a:rPr lang="en-IN" sz="1500" dirty="0"/>
              <a:t>70% cost reduction</a:t>
            </a:r>
          </a:p>
          <a:p>
            <a:br>
              <a:rPr lang="en-IN" sz="1500" dirty="0"/>
            </a:br>
            <a:r>
              <a:rPr lang="en-IN" sz="1500" b="1" dirty="0"/>
              <a:t>Agent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Batch document grading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Parallel node execution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Async Pinecone retrieval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Streaming responses </a:t>
            </a:r>
          </a:p>
        </p:txBody>
      </p:sp>
    </p:spTree>
    <p:extLst>
      <p:ext uri="{BB962C8B-B14F-4D97-AF65-F5344CB8AC3E}">
        <p14:creationId xmlns:p14="http://schemas.microsoft.com/office/powerpoint/2010/main" val="528614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42DFD-9957-77DF-1A57-7DBFBBB9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7B48E9-7D46-9828-3A1D-1EE0948E0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0800" y="419081"/>
            <a:ext cx="9144000" cy="546629"/>
          </a:xfrm>
        </p:spPr>
        <p:txBody>
          <a:bodyPr/>
          <a:lstStyle/>
          <a:p>
            <a:r>
              <a:rPr lang="en-IN" dirty="0"/>
              <a:t>Impact &amp;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73F82-955C-D377-D98F-6B662870E8C0}"/>
              </a:ext>
            </a:extLst>
          </p:cNvPr>
          <p:cNvSpPr txBox="1"/>
          <p:nvPr/>
        </p:nvSpPr>
        <p:spPr>
          <a:xfrm>
            <a:off x="1032932" y="965710"/>
            <a:ext cx="104139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Achievements</a:t>
            </a:r>
            <a:br>
              <a:rPr lang="en-IN" sz="1600" b="1" dirty="0"/>
            </a:br>
            <a:endParaRPr lang="en-IN" sz="1600" b="1" dirty="0"/>
          </a:p>
          <a:p>
            <a:r>
              <a:rPr lang="en-IN" sz="1600" dirty="0"/>
              <a:t>✅ Built a production-style Agentic RAG system</a:t>
            </a:r>
          </a:p>
          <a:p>
            <a:r>
              <a:rPr lang="en-IN" sz="1600" dirty="0"/>
              <a:t>✅ Integrated GPT-4o, LangGraph, Pinecone, and Supabase</a:t>
            </a:r>
          </a:p>
          <a:p>
            <a:r>
              <a:rPr lang="en-IN" sz="1600" dirty="0"/>
              <a:t>✅ Implemented conversation memory and query rewriting</a:t>
            </a:r>
          </a:p>
          <a:p>
            <a:r>
              <a:rPr lang="en-IN" sz="1600" dirty="0"/>
              <a:t>✅ Reduced hallucinations through retrieval and grading</a:t>
            </a:r>
          </a:p>
          <a:p>
            <a:r>
              <a:rPr lang="en-IN" sz="1600" dirty="0"/>
              <a:t>✅ Designed scalable architecture for 100+ concurrent users</a:t>
            </a:r>
          </a:p>
          <a:p>
            <a:r>
              <a:rPr lang="en-IN" sz="1600" dirty="0"/>
              <a:t>✅ Created a secure multi-user AI assistant with persistent chat history</a:t>
            </a:r>
          </a:p>
        </p:txBody>
      </p:sp>
    </p:spTree>
    <p:extLst>
      <p:ext uri="{BB962C8B-B14F-4D97-AF65-F5344CB8AC3E}">
        <p14:creationId xmlns:p14="http://schemas.microsoft.com/office/powerpoint/2010/main" val="40618704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31</TotalTime>
  <Words>683</Words>
  <Application>Microsoft Office PowerPoint</Application>
  <PresentationFormat>Widescreen</PresentationFormat>
  <Paragraphs>187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Calisto MT</vt:lpstr>
      <vt:lpstr>Wingdings 2</vt:lpstr>
      <vt:lpstr>Slate</vt:lpstr>
      <vt:lpstr>Python QA BOT Documentation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shekhar</dc:creator>
  <cp:lastModifiedBy>shubham shekhar</cp:lastModifiedBy>
  <cp:revision>1</cp:revision>
  <dcterms:created xsi:type="dcterms:W3CDTF">2026-06-13T13:27:20Z</dcterms:created>
  <dcterms:modified xsi:type="dcterms:W3CDTF">2026-06-13T13:58:33Z</dcterms:modified>
</cp:coreProperties>
</file>